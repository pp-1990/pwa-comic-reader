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360000">
            <a:off x="8138160" y="1417320"/>
            <a:ext cx="3657600" cy="1737360"/>
          </a:xfrm>
          <a:prstGeom prst="roundRect">
            <a:avLst>
              <a:gd name="adj" fmla="val 6000"/>
            </a:avLst>
          </a:prstGeom>
          <a:solidFill>
            <a:srgbClr val="211C15"/>
          </a:solidFill>
          <a:ln w="15240">
            <a:solidFill>
              <a:srgbClr val="362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80000">
            <a:off x="8778240" y="306324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211C15"/>
          </a:solidFill>
          <a:ln w="15240">
            <a:solidFill>
              <a:srgbClr val="362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9640" y="443484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211C15"/>
          </a:solidFill>
          <a:ln w="15240">
            <a:solidFill>
              <a:srgbClr val="362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LIVE DEMO — FOR COMIC PUBLISHERS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4C563"/>
                </a:solidFill>
                <a:latin typeface="Arial Black"/>
              </a:rPr>
              <a:t>ACBF</a:t>
            </a:r>
          </a:p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4C563"/>
                </a:solidFill>
                <a:latin typeface="Arial Black"/>
              </a:rPr>
              <a:t>PANEL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F5EFE2"/>
                </a:solidFill>
                <a:latin typeface="Calibri"/>
              </a:rPr>
              <a:t>Turning a comic archive into a panel-by-panel reading experience — without redrawing a single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989320"/>
            <a:ext cx="758952" cy="384048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044183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FB7D9"/>
                </a:solidFill>
                <a:latin typeface="Consolas"/>
              </a:rPr>
              <a:t>.CBZ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6044183"/>
            <a:ext cx="4297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A79A85"/>
                </a:solidFill>
                <a:latin typeface="Consolas"/>
              </a:rPr>
              <a:t>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5989320"/>
            <a:ext cx="758952" cy="384048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6044183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FB7D9"/>
                </a:solidFill>
                <a:latin typeface="Consolas"/>
              </a:rPr>
              <a:t>.CBR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6044183"/>
            <a:ext cx="1417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A79A85"/>
                </a:solidFill>
                <a:latin typeface="Consolas"/>
              </a:rPr>
              <a:t>→ editor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9431" y="5989320"/>
            <a:ext cx="868680" cy="384048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E8A9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6044183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8A93C"/>
                </a:solidFill>
                <a:latin typeface="Consolas"/>
              </a:rPr>
              <a:t>.ACBF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A79A85"/>
                </a:solidFill>
                <a:latin typeface="Arial Black"/>
              </a:rPr>
              <a:t>YOU ALREADY HAVE THE PANELS.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F4C563"/>
                </a:solidFill>
                <a:latin typeface="Arial Black"/>
              </a:rPr>
              <a:t>NOW THE READER CAN FIND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2880360" cy="2331720"/>
          </a:xfrm>
          <a:prstGeom prst="roundRect">
            <a:avLst>
              <a:gd name="adj" fmla="val 5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752344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80">
                <a:solidFill>
                  <a:srgbClr val="6FB7D9"/>
                </a:solidFill>
                <a:latin typeface="Consola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81528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EFE2"/>
                </a:solidFill>
                <a:latin typeface="Calibri"/>
              </a:rPr>
              <a:t>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566160"/>
            <a:ext cx="23682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One flat raster image, exactly as it sits in the archive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45186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E8A93C"/>
                </a:solidFill>
                <a:latin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514600"/>
            <a:ext cx="2880360" cy="2331720"/>
          </a:xfrm>
          <a:prstGeom prst="roundRect">
            <a:avLst>
              <a:gd name="adj" fmla="val 5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752344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80">
                <a:solidFill>
                  <a:srgbClr val="6FB7D9"/>
                </a:solidFill>
                <a:latin typeface="Consolas"/>
              </a:rPr>
              <a:t>EDITOR DRAWS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3081528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EFE2"/>
                </a:solidFill>
                <a:latin typeface="Calibri"/>
              </a:rPr>
              <a:t>Panels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3566160"/>
            <a:ext cx="23682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Each panel becomes its own shape — a rectangle, or any polygon.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45186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>
                <a:solidFill>
                  <a:srgbClr val="E8A93C"/>
                </a:solidFill>
                <a:latin typeface="Consola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514600"/>
            <a:ext cx="2880360" cy="2331720"/>
          </a:xfrm>
          <a:prstGeom prst="roundRect">
            <a:avLst>
              <a:gd name="adj" fmla="val 5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2752344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 spc="80">
                <a:solidFill>
                  <a:srgbClr val="6FB7D9"/>
                </a:solidFill>
                <a:latin typeface="Consolas"/>
              </a:rPr>
              <a:t>READER FOLLOWS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081528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5EFE2"/>
                </a:solidFill>
                <a:latin typeface="Calibri"/>
              </a:rPr>
              <a:t>Reading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3566160"/>
            <a:ext cx="236829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The sequence you set is exactly the path the reader is guided through.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WHY READERS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4C563"/>
                </a:solidFill>
                <a:latin typeface="Arial Black"/>
              </a:rPr>
              <a:t>A PAGE BUILT FOR PRINT ISN'T BUILT FOR A PALM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203704"/>
            <a:ext cx="457200" cy="457200"/>
          </a:xfrm>
          <a:prstGeom prst="ellipse">
            <a:avLst/>
          </a:prstGeom>
          <a:solidFill>
            <a:srgbClr val="211C15"/>
          </a:solidFill>
          <a:ln w="12700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03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8A93C"/>
                </a:solidFill>
                <a:latin typeface="Calibri"/>
              </a:rP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EFE2"/>
                </a:solidFill>
                <a:latin typeface="Calibri"/>
              </a:rPr>
              <a:t>Small screens, full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32888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79A85"/>
                </a:solidFill>
                <a:latin typeface="Calibri"/>
              </a:rPr>
              <a:t>Shrink a print-lettered page to a phone and the dialogue goes illegible before the art does.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438144"/>
            <a:ext cx="457200" cy="457200"/>
          </a:xfrm>
          <a:prstGeom prst="ellipse">
            <a:avLst/>
          </a:prstGeom>
          <a:solidFill>
            <a:srgbClr val="211C15"/>
          </a:solidFill>
          <a:ln w="12700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381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8A93C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EFE2"/>
                </a:solidFill>
                <a:latin typeface="Calibri"/>
              </a:rPr>
              <a:t>Guided, not zoomed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67328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79A85"/>
                </a:solidFill>
                <a:latin typeface="Calibri"/>
              </a:rPr>
              <a:t>Guided View pans and zooms to every panel automatically, in reading order — no pinching, no hunting for the next line.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672584"/>
            <a:ext cx="457200" cy="457200"/>
          </a:xfrm>
          <a:prstGeom prst="ellipse">
            <a:avLst/>
          </a:prstGeom>
          <a:solidFill>
            <a:srgbClr val="211C15"/>
          </a:solidFill>
          <a:ln w="12700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67258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E8A93C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5EFE2"/>
                </a:solidFill>
                <a:latin typeface="Calibri"/>
              </a:rPr>
              <a:t>Runs on their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01768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A79A85"/>
                </a:solidFill>
                <a:latin typeface="Calibri"/>
              </a:rPr>
              <a:t>No upload, no server round-trip. The reader's copy of the issue never leaves their phone.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STEP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4C563"/>
                </a:solidFill>
                <a:latin typeface="Arial Black"/>
              </a:rPr>
              <a:t>DROP IN THE ARCHIVE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17140F"/>
                </a:solidFill>
                <a:latin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5EFE2"/>
                </a:solidFill>
                <a:latin typeface="Calibri"/>
              </a:rPr>
              <a:t>Open the .cbz or .cbr you already have — nothing to re-export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56616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56616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An on-device model reads the page and outlines every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133088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133088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This page: 6 panels found and numbered in under two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700016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700016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No file ever leaves the 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48840"/>
            <a:ext cx="7040880" cy="4160520"/>
          </a:xfrm>
          <a:prstGeom prst="roundRect">
            <a:avLst>
              <a:gd name="adj" fmla="val 4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ditor-det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8" y="2258568"/>
            <a:ext cx="6305702" cy="394106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34840" y="6296660"/>
            <a:ext cx="128015" cy="12700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2139" y="6181344"/>
            <a:ext cx="12700" cy="128015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47704" y="6296660"/>
            <a:ext cx="128016" cy="12700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63020" y="6181344"/>
            <a:ext cx="12700" cy="128015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STEP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4C563"/>
                </a:solidFill>
                <a:latin typeface="Arial Black"/>
              </a:rPr>
              <a:t>CORRECT THE DRAFT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17140F"/>
                </a:solidFill>
                <a:latin typeface="Arial Black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5EFE2"/>
                </a:solidFill>
                <a:latin typeface="Calibri"/>
              </a:rPr>
              <a:t>Every panel is a shape, not just a 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56616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56616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Drag a corner to resize, an edge to trace an angled border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133088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133088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Add, delete, or redraw a panel from scratch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700016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700016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Drag panels in the list to fix reading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48840"/>
            <a:ext cx="7040880" cy="4160520"/>
          </a:xfrm>
          <a:prstGeom prst="roundRect">
            <a:avLst>
              <a:gd name="adj" fmla="val 4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ditor-polyg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8" y="2258568"/>
            <a:ext cx="6305702" cy="394106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34840" y="6296660"/>
            <a:ext cx="128015" cy="12700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2139" y="6181344"/>
            <a:ext cx="12700" cy="128015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47704" y="6296660"/>
            <a:ext cx="128016" cy="12700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63020" y="6181344"/>
            <a:ext cx="12700" cy="128015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STEP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4C563"/>
                </a:solidFill>
                <a:latin typeface="Arial Black"/>
              </a:rPr>
              <a:t>THE READER'S VIEW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E8A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17140F"/>
                </a:solidFill>
                <a:latin typeface="Arial Black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5EFE2"/>
                </a:solidFill>
                <a:latin typeface="Calibri"/>
              </a:rPr>
              <a:t>Export, and the reader gets an automatic path through the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566160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566160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One panel at a time, in the order you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4133088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133088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Pan &amp; zoom, fade-to-black, or Cinematic (shown here)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700016"/>
            <a:ext cx="30358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FB7D9"/>
                </a:solidFill>
                <a:latin typeface="Calibr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700016"/>
            <a:ext cx="2816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A79A85"/>
                </a:solidFill>
                <a:latin typeface="Calibri"/>
              </a:rPr>
              <a:t>Cinematic spotlights the current panel, dims the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48840"/>
            <a:ext cx="7040880" cy="4160520"/>
          </a:xfrm>
          <a:prstGeom prst="roundRect">
            <a:avLst>
              <a:gd name="adj" fmla="val 4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ader-cinema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8" y="2258568"/>
            <a:ext cx="6305702" cy="394106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434840" y="6296660"/>
            <a:ext cx="128015" cy="12700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2139" y="6181344"/>
            <a:ext cx="12700" cy="128015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47704" y="6296660"/>
            <a:ext cx="128016" cy="12700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63020" y="6181344"/>
            <a:ext cx="12700" cy="128015"/>
          </a:xfrm>
          <a:prstGeom prst="rect">
            <a:avLst/>
          </a:prstGeom>
          <a:solidFill>
            <a:srgbClr val="6FB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THE FINE PRINT — READ IT ANYWAY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4C563"/>
                </a:solidFill>
                <a:latin typeface="Arial Black"/>
              </a:rPr>
              <a:t>NOTHING TO LOSE BY TRYING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9748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990088"/>
            <a:ext cx="2871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F4C563"/>
                </a:solidFill>
                <a:latin typeface="Arial Black"/>
              </a:rPr>
              <a:t>0 UPLOADS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3657600"/>
            <a:ext cx="28712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79A85"/>
                </a:solidFill>
                <a:latin typeface="Calibri"/>
              </a:rPr>
              <a:t>Every archive stays on your own machine, start to finish — the editor never phones home.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69748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990088"/>
            <a:ext cx="2871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F4C563"/>
                </a:solidFill>
                <a:latin typeface="Arial Black"/>
              </a:rPr>
              <a:t>OPEN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3657600"/>
            <a:ext cx="28712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79A85"/>
                </a:solidFill>
                <a:latin typeface="Calibri"/>
              </a:rPr>
              <a:t>ACBF is a public spec, not something locked to this reader or this company.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4424" y="2697480"/>
            <a:ext cx="3383280" cy="2926080"/>
          </a:xfrm>
          <a:prstGeom prst="roundRect">
            <a:avLst>
              <a:gd name="adj" fmla="val 5000"/>
            </a:avLst>
          </a:prstGeom>
          <a:solidFill>
            <a:srgbClr val="211C15"/>
          </a:solidFill>
          <a:ln w="9525">
            <a:solidFill>
              <a:srgbClr val="3A32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2990088"/>
            <a:ext cx="28712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F4C563"/>
                </a:solidFill>
                <a:latin typeface="Arial Black"/>
              </a:rPr>
              <a:t>1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3657600"/>
            <a:ext cx="287121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A79A85"/>
                </a:solidFill>
                <a:latin typeface="Calibri"/>
              </a:rPr>
              <a:t>is enough to try it end to end — no migration, no contract, no commitment.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120">
                <a:solidFill>
                  <a:srgbClr val="6FB7D9"/>
                </a:solidFill>
                <a:latin typeface="Consolas"/>
              </a:rPr>
              <a:t>FOR YOUR ARCHIVE, SPECIFICALLY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4C563"/>
                </a:solidFill>
                <a:latin typeface="Arial Black"/>
              </a:rPr>
              <a:t>WHAT CHANGES ON YOUR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10817352" cy="10972"/>
          </a:xfrm>
          <a:prstGeom prst="rect">
            <a:avLst/>
          </a:prstGeom>
          <a:solidFill>
            <a:srgbClr val="3A3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8775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80">
                <a:solidFill>
                  <a:srgbClr val="6FB7D9"/>
                </a:solidFill>
                <a:latin typeface="Consolas"/>
              </a:rPr>
              <a:t>YOUR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551176"/>
            <a:ext cx="8622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5EFE2"/>
                </a:solidFill>
                <a:latin typeface="Calibri"/>
              </a:rPr>
              <a:t>Works as-is — no re-scanning, no re-lettering, no format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374136"/>
            <a:ext cx="10817352" cy="10972"/>
          </a:xfrm>
          <a:prstGeom prst="rect">
            <a:avLst/>
          </a:prstGeom>
          <a:solidFill>
            <a:srgbClr val="3A3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758184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80">
                <a:solidFill>
                  <a:srgbClr val="6FB7D9"/>
                </a:solidFill>
                <a:latin typeface="Consolas"/>
              </a:rPr>
              <a:t>YOUR READERS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721608"/>
            <a:ext cx="8622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5EFE2"/>
                </a:solidFill>
                <a:latin typeface="Calibri"/>
              </a:rPr>
              <a:t>A phone-native way to read a page that was drawn for print.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44568"/>
            <a:ext cx="10817352" cy="10972"/>
          </a:xfrm>
          <a:prstGeom prst="rect">
            <a:avLst/>
          </a:prstGeom>
          <a:solidFill>
            <a:srgbClr val="3A3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2861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spc="80">
                <a:solidFill>
                  <a:srgbClr val="6FB7D9"/>
                </a:solidFill>
                <a:latin typeface="Consolas"/>
              </a:rPr>
              <a:t>YOUR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892040"/>
            <a:ext cx="8622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F5EFE2"/>
                </a:solidFill>
                <a:latin typeface="Calibri"/>
              </a:rPr>
              <a:t>The panel map is a file you keep — export it, edit it later, or walk away with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715000"/>
            <a:ext cx="10817352" cy="10972"/>
          </a:xfrm>
          <a:prstGeom prst="rect">
            <a:avLst/>
          </a:prstGeom>
          <a:solidFill>
            <a:srgbClr val="3A3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